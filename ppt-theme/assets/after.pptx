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المتجر</c:v>
                </c:pt>
                <c:pt idx="1">
                  <c:v>التطبيق</c:v>
                </c:pt>
                <c:pt idx="2">
                  <c:v>الشركاء</c:v>
                </c:pt>
                <c:pt idx="3">
                  <c:v>الفروع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31.0</c:v>
                </c:pt>
                <c:pt idx="1">
                  <c:v>44.5</c:v>
                </c:pt>
                <c:pt idx="2">
                  <c:v>12.5</c:v>
                </c:pt>
                <c:pt idx="3">
                  <c:v>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000" b="1">
                <a:solidFill>
                  <a:srgbClr val="1A2238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rand-bar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6963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تقرير الأداء الربعي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الربع الثالث 2026 · إدارة التطوير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أهم النتائج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نمو الإيرادات 18% عن الربع السابق</a:t>
            </a:r>
          </a:p>
          <a:p>
            <a:r>
              <a:t>خمسة أسواق جديدة</a:t>
            </a:r>
          </a:p>
          <a:p>
            <a:r>
              <a:t>انخفاض تكلفة الاستقطاب 12%</a:t>
            </a:r>
          </a:p>
          <a:p>
            <a:r>
              <a:t>رضا العملاء 4.6 من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الإيرادات بحسب القناة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144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خطة الربع القادم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737360"/>
          <a:ext cx="9144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777240">
                <a:tc>
                  <a:txBody>
                    <a:bodyPr/>
                    <a:lstStyle/>
                    <a:p>
                      <a:r>
                        <a:rPr sz="1600"/>
                        <a:t>المبادرة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المسؤول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الموعد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إطلاق التطبيق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التقنية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نوفمبر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توسعة الشركاء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المبيعات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ديسمبر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برنامج الولاء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التسويق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يناير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rand">
      <a:dk1>
        <a:srgbClr val="1A2238"/>
      </a:dk1>
      <a:lt1>
        <a:srgbClr val="FFFFFF"/>
      </a:lt1>
      <a:dk2>
        <a:srgbClr val="0F1626"/>
      </a:dk2>
      <a:lt2>
        <a:srgbClr val="F3F5F9"/>
      </a:lt2>
      <a:accent1>
        <a:srgbClr val="C6963C"/>
      </a:accent1>
      <a:accent2>
        <a:srgbClr val="1F6F6B"/>
      </a:accent2>
      <a:accent3>
        <a:srgbClr val="8C5A2B"/>
      </a:accent3>
      <a:accent4>
        <a:srgbClr val="4A5A7A"/>
      </a:accent4>
      <a:accent5>
        <a:srgbClr val="A8803A"/>
      </a:accent5>
      <a:accent6>
        <a:srgbClr val="2E7D74"/>
      </a:accent6>
      <a:hlink>
        <a:srgbClr val="1F6F6B"/>
      </a:hlink>
      <a:folHlink>
        <a:srgbClr val="8C5A2B"/>
      </a:folHlink>
    </a:clrScheme>
    <a:fontScheme name="Office">
      <a:majorFont>
        <a:latin typeface="Noto Kufi Arabic"/>
        <a:ea typeface=""/>
        <a:cs typeface="Noto Kufi Arabic"/>
      </a:majorFont>
      <a:minorFont>
        <a:latin typeface="Noto Kufi Arabic"/>
        <a:ea typeface=""/>
        <a:cs typeface="Noto Kufi Arab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